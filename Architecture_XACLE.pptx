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5111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2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36576"/>
            <a:ext cx="9144000" cy="1779646"/>
          </a:xfrm>
        </p:spPr>
        <p:txBody>
          <a:bodyPr anchor="b"/>
          <a:lstStyle>
            <a:lvl1pPr algn="ctr">
              <a:defRPr sz="44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84852"/>
            <a:ext cx="9144000" cy="1234156"/>
          </a:xfrm>
        </p:spPr>
        <p:txBody>
          <a:bodyPr/>
          <a:lstStyle>
            <a:lvl1pPr marL="0" indent="0" algn="ctr">
              <a:buNone/>
              <a:defRPr sz="1789"/>
            </a:lvl1pPr>
            <a:lvl2pPr marL="340797" indent="0" algn="ctr">
              <a:buNone/>
              <a:defRPr sz="1491"/>
            </a:lvl2pPr>
            <a:lvl3pPr marL="681594" indent="0" algn="ctr">
              <a:buNone/>
              <a:defRPr sz="1342"/>
            </a:lvl3pPr>
            <a:lvl4pPr marL="1022391" indent="0" algn="ctr">
              <a:buNone/>
              <a:defRPr sz="1193"/>
            </a:lvl4pPr>
            <a:lvl5pPr marL="1363188" indent="0" algn="ctr">
              <a:buNone/>
              <a:defRPr sz="1193"/>
            </a:lvl5pPr>
            <a:lvl6pPr marL="1703984" indent="0" algn="ctr">
              <a:buNone/>
              <a:defRPr sz="1193"/>
            </a:lvl6pPr>
            <a:lvl7pPr marL="2044781" indent="0" algn="ctr">
              <a:buNone/>
              <a:defRPr sz="1193"/>
            </a:lvl7pPr>
            <a:lvl8pPr marL="2385578" indent="0" algn="ctr">
              <a:buNone/>
              <a:defRPr sz="1193"/>
            </a:lvl8pPr>
            <a:lvl9pPr marL="2726375" indent="0" algn="ctr">
              <a:buNone/>
              <a:defRPr sz="119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89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47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74388"/>
            <a:ext cx="10515600" cy="2126346"/>
          </a:xfrm>
        </p:spPr>
        <p:txBody>
          <a:bodyPr anchor="b"/>
          <a:lstStyle>
            <a:lvl1pPr>
              <a:defRPr sz="44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420850"/>
            <a:ext cx="10515600" cy="1118195"/>
          </a:xfrm>
        </p:spPr>
        <p:txBody>
          <a:bodyPr/>
          <a:lstStyle>
            <a:lvl1pPr marL="0" indent="0">
              <a:buNone/>
              <a:defRPr sz="1789">
                <a:solidFill>
                  <a:schemeClr val="tx1">
                    <a:tint val="75000"/>
                  </a:schemeClr>
                </a:solidFill>
              </a:defRPr>
            </a:lvl1pPr>
            <a:lvl2pPr marL="340797" indent="0">
              <a:buNone/>
              <a:defRPr sz="1491">
                <a:solidFill>
                  <a:schemeClr val="tx1">
                    <a:tint val="75000"/>
                  </a:schemeClr>
                </a:solidFill>
              </a:defRPr>
            </a:lvl2pPr>
            <a:lvl3pPr marL="681594" indent="0">
              <a:buNone/>
              <a:defRPr sz="1342">
                <a:solidFill>
                  <a:schemeClr val="tx1">
                    <a:tint val="75000"/>
                  </a:schemeClr>
                </a:solidFill>
              </a:defRPr>
            </a:lvl3pPr>
            <a:lvl4pPr marL="1022391" indent="0">
              <a:buNone/>
              <a:defRPr sz="1193">
                <a:solidFill>
                  <a:schemeClr val="tx1">
                    <a:tint val="75000"/>
                  </a:schemeClr>
                </a:solidFill>
              </a:defRPr>
            </a:lvl4pPr>
            <a:lvl5pPr marL="1363188" indent="0">
              <a:buNone/>
              <a:defRPr sz="1193">
                <a:solidFill>
                  <a:schemeClr val="tx1">
                    <a:tint val="75000"/>
                  </a:schemeClr>
                </a:solidFill>
              </a:defRPr>
            </a:lvl5pPr>
            <a:lvl6pPr marL="1703984" indent="0">
              <a:buNone/>
              <a:defRPr sz="1193">
                <a:solidFill>
                  <a:schemeClr val="tx1">
                    <a:tint val="75000"/>
                  </a:schemeClr>
                </a:solidFill>
              </a:defRPr>
            </a:lvl6pPr>
            <a:lvl7pPr marL="2044781" indent="0">
              <a:buNone/>
              <a:defRPr sz="1193">
                <a:solidFill>
                  <a:schemeClr val="tx1">
                    <a:tint val="75000"/>
                  </a:schemeClr>
                </a:solidFill>
              </a:defRPr>
            </a:lvl7pPr>
            <a:lvl8pPr marL="2385578" indent="0">
              <a:buNone/>
              <a:defRPr sz="1193">
                <a:solidFill>
                  <a:schemeClr val="tx1">
                    <a:tint val="75000"/>
                  </a:schemeClr>
                </a:solidFill>
              </a:defRPr>
            </a:lvl8pPr>
            <a:lvl9pPr marL="2726375" indent="0">
              <a:buNone/>
              <a:defRPr sz="11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27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60767"/>
            <a:ext cx="5181600" cy="324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60767"/>
            <a:ext cx="5181600" cy="3243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72154"/>
            <a:ext cx="10515600" cy="9880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53089"/>
            <a:ext cx="5157787" cy="614120"/>
          </a:xfrm>
        </p:spPr>
        <p:txBody>
          <a:bodyPr anchor="b"/>
          <a:lstStyle>
            <a:lvl1pPr marL="0" indent="0">
              <a:buNone/>
              <a:defRPr sz="1789" b="1"/>
            </a:lvl1pPr>
            <a:lvl2pPr marL="340797" indent="0">
              <a:buNone/>
              <a:defRPr sz="1491" b="1"/>
            </a:lvl2pPr>
            <a:lvl3pPr marL="681594" indent="0">
              <a:buNone/>
              <a:defRPr sz="1342" b="1"/>
            </a:lvl3pPr>
            <a:lvl4pPr marL="1022391" indent="0">
              <a:buNone/>
              <a:defRPr sz="1193" b="1"/>
            </a:lvl4pPr>
            <a:lvl5pPr marL="1363188" indent="0">
              <a:buNone/>
              <a:defRPr sz="1193" b="1"/>
            </a:lvl5pPr>
            <a:lvl6pPr marL="1703984" indent="0">
              <a:buNone/>
              <a:defRPr sz="1193" b="1"/>
            </a:lvl6pPr>
            <a:lvl7pPr marL="2044781" indent="0">
              <a:buNone/>
              <a:defRPr sz="1193" b="1"/>
            </a:lvl7pPr>
            <a:lvl8pPr marL="2385578" indent="0">
              <a:buNone/>
              <a:defRPr sz="1193" b="1"/>
            </a:lvl8pPr>
            <a:lvl9pPr marL="2726375" indent="0">
              <a:buNone/>
              <a:defRPr sz="11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67209"/>
            <a:ext cx="5157787" cy="2746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53089"/>
            <a:ext cx="5183188" cy="614120"/>
          </a:xfrm>
        </p:spPr>
        <p:txBody>
          <a:bodyPr anchor="b"/>
          <a:lstStyle>
            <a:lvl1pPr marL="0" indent="0">
              <a:buNone/>
              <a:defRPr sz="1789" b="1"/>
            </a:lvl1pPr>
            <a:lvl2pPr marL="340797" indent="0">
              <a:buNone/>
              <a:defRPr sz="1491" b="1"/>
            </a:lvl2pPr>
            <a:lvl3pPr marL="681594" indent="0">
              <a:buNone/>
              <a:defRPr sz="1342" b="1"/>
            </a:lvl3pPr>
            <a:lvl4pPr marL="1022391" indent="0">
              <a:buNone/>
              <a:defRPr sz="1193" b="1"/>
            </a:lvl4pPr>
            <a:lvl5pPr marL="1363188" indent="0">
              <a:buNone/>
              <a:defRPr sz="1193" b="1"/>
            </a:lvl5pPr>
            <a:lvl6pPr marL="1703984" indent="0">
              <a:buNone/>
              <a:defRPr sz="1193" b="1"/>
            </a:lvl6pPr>
            <a:lvl7pPr marL="2044781" indent="0">
              <a:buNone/>
              <a:defRPr sz="1193" b="1"/>
            </a:lvl7pPr>
            <a:lvl8pPr marL="2385578" indent="0">
              <a:buNone/>
              <a:defRPr sz="1193" b="1"/>
            </a:lvl8pPr>
            <a:lvl9pPr marL="2726375" indent="0">
              <a:buNone/>
              <a:defRPr sz="119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67209"/>
            <a:ext cx="5183188" cy="2746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6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705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827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40783"/>
            <a:ext cx="3932237" cy="1192742"/>
          </a:xfrm>
        </p:spPr>
        <p:txBody>
          <a:bodyPr anchor="b"/>
          <a:lstStyle>
            <a:lvl1pPr>
              <a:defRPr sz="23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35998"/>
            <a:ext cx="6172200" cy="3632656"/>
          </a:xfrm>
        </p:spPr>
        <p:txBody>
          <a:bodyPr/>
          <a:lstStyle>
            <a:lvl1pPr>
              <a:defRPr sz="2385"/>
            </a:lvl1pPr>
            <a:lvl2pPr>
              <a:defRPr sz="2087"/>
            </a:lvl2pPr>
            <a:lvl3pPr>
              <a:defRPr sz="1789"/>
            </a:lvl3pPr>
            <a:lvl4pPr>
              <a:defRPr sz="1491"/>
            </a:lvl4pPr>
            <a:lvl5pPr>
              <a:defRPr sz="1491"/>
            </a:lvl5pPr>
            <a:lvl6pPr>
              <a:defRPr sz="1491"/>
            </a:lvl6pPr>
            <a:lvl7pPr>
              <a:defRPr sz="1491"/>
            </a:lvl7pPr>
            <a:lvl8pPr>
              <a:defRPr sz="1491"/>
            </a:lvl8pPr>
            <a:lvl9pPr>
              <a:defRPr sz="149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33525"/>
            <a:ext cx="3932237" cy="2841045"/>
          </a:xfrm>
        </p:spPr>
        <p:txBody>
          <a:bodyPr/>
          <a:lstStyle>
            <a:lvl1pPr marL="0" indent="0">
              <a:buNone/>
              <a:defRPr sz="1193"/>
            </a:lvl1pPr>
            <a:lvl2pPr marL="340797" indent="0">
              <a:buNone/>
              <a:defRPr sz="1044"/>
            </a:lvl2pPr>
            <a:lvl3pPr marL="681594" indent="0">
              <a:buNone/>
              <a:defRPr sz="894"/>
            </a:lvl3pPr>
            <a:lvl4pPr marL="1022391" indent="0">
              <a:buNone/>
              <a:defRPr sz="745"/>
            </a:lvl4pPr>
            <a:lvl5pPr marL="1363188" indent="0">
              <a:buNone/>
              <a:defRPr sz="745"/>
            </a:lvl5pPr>
            <a:lvl6pPr marL="1703984" indent="0">
              <a:buNone/>
              <a:defRPr sz="745"/>
            </a:lvl6pPr>
            <a:lvl7pPr marL="2044781" indent="0">
              <a:buNone/>
              <a:defRPr sz="745"/>
            </a:lvl7pPr>
            <a:lvl8pPr marL="2385578" indent="0">
              <a:buNone/>
              <a:defRPr sz="745"/>
            </a:lvl8pPr>
            <a:lvl9pPr marL="2726375" indent="0">
              <a:buNone/>
              <a:defRPr sz="7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329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40783"/>
            <a:ext cx="3932237" cy="1192742"/>
          </a:xfrm>
        </p:spPr>
        <p:txBody>
          <a:bodyPr anchor="b"/>
          <a:lstStyle>
            <a:lvl1pPr>
              <a:defRPr sz="23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35998"/>
            <a:ext cx="6172200" cy="3632656"/>
          </a:xfrm>
        </p:spPr>
        <p:txBody>
          <a:bodyPr anchor="t"/>
          <a:lstStyle>
            <a:lvl1pPr marL="0" indent="0">
              <a:buNone/>
              <a:defRPr sz="2385"/>
            </a:lvl1pPr>
            <a:lvl2pPr marL="340797" indent="0">
              <a:buNone/>
              <a:defRPr sz="2087"/>
            </a:lvl2pPr>
            <a:lvl3pPr marL="681594" indent="0">
              <a:buNone/>
              <a:defRPr sz="1789"/>
            </a:lvl3pPr>
            <a:lvl4pPr marL="1022391" indent="0">
              <a:buNone/>
              <a:defRPr sz="1491"/>
            </a:lvl4pPr>
            <a:lvl5pPr marL="1363188" indent="0">
              <a:buNone/>
              <a:defRPr sz="1491"/>
            </a:lvl5pPr>
            <a:lvl6pPr marL="1703984" indent="0">
              <a:buNone/>
              <a:defRPr sz="1491"/>
            </a:lvl6pPr>
            <a:lvl7pPr marL="2044781" indent="0">
              <a:buNone/>
              <a:defRPr sz="1491"/>
            </a:lvl7pPr>
            <a:lvl8pPr marL="2385578" indent="0">
              <a:buNone/>
              <a:defRPr sz="1491"/>
            </a:lvl8pPr>
            <a:lvl9pPr marL="2726375" indent="0">
              <a:buNone/>
              <a:defRPr sz="149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33525"/>
            <a:ext cx="3932237" cy="2841045"/>
          </a:xfrm>
        </p:spPr>
        <p:txBody>
          <a:bodyPr/>
          <a:lstStyle>
            <a:lvl1pPr marL="0" indent="0">
              <a:buNone/>
              <a:defRPr sz="1193"/>
            </a:lvl1pPr>
            <a:lvl2pPr marL="340797" indent="0">
              <a:buNone/>
              <a:defRPr sz="1044"/>
            </a:lvl2pPr>
            <a:lvl3pPr marL="681594" indent="0">
              <a:buNone/>
              <a:defRPr sz="894"/>
            </a:lvl3pPr>
            <a:lvl4pPr marL="1022391" indent="0">
              <a:buNone/>
              <a:defRPr sz="745"/>
            </a:lvl4pPr>
            <a:lvl5pPr marL="1363188" indent="0">
              <a:buNone/>
              <a:defRPr sz="745"/>
            </a:lvl5pPr>
            <a:lvl6pPr marL="1703984" indent="0">
              <a:buNone/>
              <a:defRPr sz="745"/>
            </a:lvl6pPr>
            <a:lvl7pPr marL="2044781" indent="0">
              <a:buNone/>
              <a:defRPr sz="745"/>
            </a:lvl7pPr>
            <a:lvl8pPr marL="2385578" indent="0">
              <a:buNone/>
              <a:defRPr sz="745"/>
            </a:lvl8pPr>
            <a:lvl9pPr marL="2726375" indent="0">
              <a:buNone/>
              <a:defRPr sz="74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7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05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72153"/>
            <a:ext cx="2628900" cy="433197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72153"/>
            <a:ext cx="7734300" cy="433197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37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72154"/>
            <a:ext cx="10515600" cy="988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60767"/>
            <a:ext cx="10515600" cy="32433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737836"/>
            <a:ext cx="2743200" cy="272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F134D-7658-4C9D-A3B6-86B7233026F3}" type="datetimeFigureOut">
              <a:rPr lang="en-IN" smtClean="0"/>
              <a:t>28-12-2025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737836"/>
            <a:ext cx="4114800" cy="272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737836"/>
            <a:ext cx="2743200" cy="272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ED5D0-F503-46C0-A44C-F43B2BA11C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690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1594" rtl="0" eaLnBrk="1" latinLnBrk="0" hangingPunct="1">
        <a:lnSpc>
          <a:spcPct val="90000"/>
        </a:lnSpc>
        <a:spcBef>
          <a:spcPct val="0"/>
        </a:spcBef>
        <a:buNone/>
        <a:defRPr sz="3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0398" indent="-170398" algn="l" defTabSz="681594" rtl="0" eaLnBrk="1" latinLnBrk="0" hangingPunct="1">
        <a:lnSpc>
          <a:spcPct val="90000"/>
        </a:lnSpc>
        <a:spcBef>
          <a:spcPts val="745"/>
        </a:spcBef>
        <a:buFont typeface="Arial" panose="020B0604020202020204" pitchFamily="34" charset="0"/>
        <a:buChar char="•"/>
        <a:defRPr sz="2087" kern="1200">
          <a:solidFill>
            <a:schemeClr val="tx1"/>
          </a:solidFill>
          <a:latin typeface="+mn-lt"/>
          <a:ea typeface="+mn-ea"/>
          <a:cs typeface="+mn-cs"/>
        </a:defRPr>
      </a:lvl1pPr>
      <a:lvl2pPr marL="511195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789" kern="1200">
          <a:solidFill>
            <a:schemeClr val="tx1"/>
          </a:solidFill>
          <a:latin typeface="+mn-lt"/>
          <a:ea typeface="+mn-ea"/>
          <a:cs typeface="+mn-cs"/>
        </a:defRPr>
      </a:lvl2pPr>
      <a:lvl3pPr marL="851992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491" kern="1200">
          <a:solidFill>
            <a:schemeClr val="tx1"/>
          </a:solidFill>
          <a:latin typeface="+mn-lt"/>
          <a:ea typeface="+mn-ea"/>
          <a:cs typeface="+mn-cs"/>
        </a:defRPr>
      </a:lvl3pPr>
      <a:lvl4pPr marL="1192789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4pPr>
      <a:lvl5pPr marL="1533586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5pPr>
      <a:lvl6pPr marL="1874383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6pPr>
      <a:lvl7pPr marL="2215180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7pPr>
      <a:lvl8pPr marL="2555977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8pPr>
      <a:lvl9pPr marL="2896773" indent="-170398" algn="l" defTabSz="681594" rtl="0" eaLnBrk="1" latinLnBrk="0" hangingPunct="1">
        <a:lnSpc>
          <a:spcPct val="90000"/>
        </a:lnSpc>
        <a:spcBef>
          <a:spcPts val="373"/>
        </a:spcBef>
        <a:buFont typeface="Arial" panose="020B0604020202020204" pitchFamily="34" charset="0"/>
        <a:buChar char="•"/>
        <a:defRPr sz="134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1pPr>
      <a:lvl2pPr marL="340797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2pPr>
      <a:lvl3pPr marL="681594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3pPr>
      <a:lvl4pPr marL="1022391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4pPr>
      <a:lvl5pPr marL="1363188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5pPr>
      <a:lvl6pPr marL="1703984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6pPr>
      <a:lvl7pPr marL="2044781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7pPr>
      <a:lvl8pPr marL="2385578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8pPr>
      <a:lvl9pPr marL="2726375" algn="l" defTabSz="681594" rtl="0" eaLnBrk="1" latinLnBrk="0" hangingPunct="1">
        <a:defRPr sz="134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63F70327-5C9F-4E5E-ABF8-28E44EE86EF8}"/>
                  </a:ext>
                </a:extLst>
              </p:cNvPr>
              <p:cNvSpPr/>
              <p:nvPr/>
            </p:nvSpPr>
            <p:spPr>
              <a:xfrm>
                <a:off x="9236090" y="1379448"/>
                <a:ext cx="1420908" cy="354739"/>
              </a:xfrm>
              <a:prstGeom prst="roundRect">
                <a:avLst/>
              </a:prstGeom>
              <a:solidFill>
                <a:srgbClr val="BDEEFF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𝑹𝒆𝒈</m:t>
                      </m:r>
                      <m:r>
                        <a:rPr lang="en-US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𝒎𝒐𝒅𝒆</m:t>
                      </m:r>
                      <m:sSub>
                        <m:sSubPr>
                          <m:ctrlP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63F70327-5C9F-4E5E-ABF8-28E44EE86E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0" y="1379448"/>
                <a:ext cx="1420908" cy="354739"/>
              </a:xfrm>
              <a:prstGeom prst="roundRect">
                <a:avLst/>
              </a:prstGeom>
              <a:blipFill>
                <a:blip r:embed="rId2"/>
                <a:stretch>
                  <a:fillRect r="-2979" b="-13333"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7AFB39-BB76-43C3-B7A9-1CF2A5C900FB}"/>
              </a:ext>
            </a:extLst>
          </p:cNvPr>
          <p:cNvSpPr/>
          <p:nvPr/>
        </p:nvSpPr>
        <p:spPr>
          <a:xfrm>
            <a:off x="10974252" y="2427806"/>
            <a:ext cx="1202267" cy="502238"/>
          </a:xfrm>
          <a:prstGeom prst="roundRect">
            <a:avLst/>
          </a:prstGeom>
          <a:solidFill>
            <a:srgbClr val="DAEFC3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Final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Prediction</a:t>
            </a:r>
            <a:endParaRPr lang="en-IN" b="1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F9EEE8C8-BA0C-41B1-B306-7AE9041FB997}"/>
                  </a:ext>
                </a:extLst>
              </p:cNvPr>
              <p:cNvSpPr/>
              <p:nvPr/>
            </p:nvSpPr>
            <p:spPr>
              <a:xfrm>
                <a:off x="9236090" y="3664275"/>
                <a:ext cx="1420908" cy="354739"/>
              </a:xfrm>
              <a:prstGeom prst="roundRect">
                <a:avLst/>
              </a:prstGeom>
              <a:solidFill>
                <a:srgbClr val="D1B2E8"/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𝑹𝒆𝒈</m:t>
                          </m:r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𝒎𝒐𝒅𝒆𝒍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IN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F9EEE8C8-BA0C-41B1-B306-7AE9041FB9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090" y="3664275"/>
                <a:ext cx="1420908" cy="354739"/>
              </a:xfrm>
              <a:prstGeom prst="roundRect">
                <a:avLst/>
              </a:prstGeom>
              <a:blipFill>
                <a:blip r:embed="rId3"/>
                <a:stretch>
                  <a:fillRect r="-2979" b="-1333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D9761BA-5B4D-4A0B-A2DD-984C9D90B97F}"/>
              </a:ext>
            </a:extLst>
          </p:cNvPr>
          <p:cNvCxnSpPr>
            <a:cxnSpLocks/>
            <a:stCxn id="4" idx="3"/>
            <a:endCxn id="5" idx="0"/>
          </p:cNvCxnSpPr>
          <p:nvPr/>
        </p:nvCxnSpPr>
        <p:spPr>
          <a:xfrm>
            <a:off x="10657015" y="1556818"/>
            <a:ext cx="918371" cy="871005"/>
          </a:xfrm>
          <a:prstGeom prst="bentConnector2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F374307-F817-482C-B410-4180A1392BAE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 flipV="1">
            <a:off x="10657015" y="2930044"/>
            <a:ext cx="918371" cy="911584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1D96FD-6EC6-40EC-A31C-2CE3296C4BA8}"/>
                  </a:ext>
                </a:extLst>
              </p:cNvPr>
              <p:cNvSpPr txBox="1"/>
              <p:nvPr/>
            </p:nvSpPr>
            <p:spPr>
              <a:xfrm>
                <a:off x="11191376" y="1785123"/>
                <a:ext cx="584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1D96FD-6EC6-40EC-A31C-2CE3296C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376" y="1785123"/>
                <a:ext cx="58486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A26E42-C1F0-45B6-A663-BD2DCAEAB00D}"/>
                  </a:ext>
                </a:extLst>
              </p:cNvPr>
              <p:cNvSpPr txBox="1"/>
              <p:nvPr/>
            </p:nvSpPr>
            <p:spPr>
              <a:xfrm>
                <a:off x="11191375" y="3201170"/>
                <a:ext cx="584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DA26E42-C1F0-45B6-A663-BD2DCAEAB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375" y="3201170"/>
                <a:ext cx="5848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3911D6F-F216-4531-9947-05727035AC43}"/>
              </a:ext>
            </a:extLst>
          </p:cNvPr>
          <p:cNvGrpSpPr/>
          <p:nvPr/>
        </p:nvGrpSpPr>
        <p:grpSpPr>
          <a:xfrm>
            <a:off x="2139428" y="3591940"/>
            <a:ext cx="2082800" cy="1298865"/>
            <a:chOff x="1871133" y="4197708"/>
            <a:chExt cx="2082800" cy="1298865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0D4C194-1F04-44BE-ACC3-F89223D710A5}"/>
                </a:ext>
              </a:extLst>
            </p:cNvPr>
            <p:cNvSpPr/>
            <p:nvPr/>
          </p:nvSpPr>
          <p:spPr>
            <a:xfrm>
              <a:off x="1871133" y="4197708"/>
              <a:ext cx="2082800" cy="1298865"/>
            </a:xfrm>
            <a:prstGeom prst="roundRect">
              <a:avLst>
                <a:gd name="adj" fmla="val 1280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BD674CB5-001B-446C-B592-E134ED3CA332}"/>
                </a:ext>
              </a:extLst>
            </p:cNvPr>
            <p:cNvSpPr/>
            <p:nvPr/>
          </p:nvSpPr>
          <p:spPr>
            <a:xfrm>
              <a:off x="1968431" y="4479051"/>
              <a:ext cx="1015004" cy="36933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Cosine Similarity (CS)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AA71C29-FCC1-48AB-AA17-D9CD5507CC17}"/>
                </a:ext>
              </a:extLst>
            </p:cNvPr>
            <p:cNvSpPr/>
            <p:nvPr/>
          </p:nvSpPr>
          <p:spPr>
            <a:xfrm>
              <a:off x="3050856" y="4481489"/>
              <a:ext cx="777931" cy="3676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Cosine Angle (CA)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3B9EFEA-17E3-4935-BD98-03D7D150E3E7}"/>
                </a:ext>
              </a:extLst>
            </p:cNvPr>
            <p:cNvSpPr/>
            <p:nvPr/>
          </p:nvSpPr>
          <p:spPr>
            <a:xfrm>
              <a:off x="1968431" y="4952427"/>
              <a:ext cx="931334" cy="39416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Euclidean distance (L2)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978E207-1EB4-4810-80E3-383D8EA94A88}"/>
                </a:ext>
              </a:extLst>
            </p:cNvPr>
            <p:cNvSpPr/>
            <p:nvPr/>
          </p:nvSpPr>
          <p:spPr>
            <a:xfrm>
              <a:off x="2966471" y="4962422"/>
              <a:ext cx="931334" cy="39416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Manhattan distance (L1)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BAA49D7-73E7-4DA0-8DC0-6C3BA55FB077}"/>
                </a:ext>
              </a:extLst>
            </p:cNvPr>
            <p:cNvSpPr txBox="1"/>
            <p:nvPr/>
          </p:nvSpPr>
          <p:spPr>
            <a:xfrm>
              <a:off x="2133652" y="4197708"/>
              <a:ext cx="1557761" cy="25513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ts val="1200"/>
                </a:lnSpc>
              </a:pPr>
              <a:r>
                <a:rPr lang="en-US" sz="1400" b="1" dirty="0"/>
                <a:t>Proximity features</a:t>
              </a:r>
              <a:endParaRPr lang="en-IN" sz="1400" b="1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8989664-7F93-43CF-BDBA-7D3F7B46E80C}"/>
              </a:ext>
            </a:extLst>
          </p:cNvPr>
          <p:cNvGrpSpPr/>
          <p:nvPr/>
        </p:nvGrpSpPr>
        <p:grpSpPr>
          <a:xfrm>
            <a:off x="5043828" y="21182"/>
            <a:ext cx="2535988" cy="5060276"/>
            <a:chOff x="5146257" y="1010324"/>
            <a:chExt cx="2535988" cy="506027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84A6869-EBEA-40C8-B7FD-BA3950F219A8}"/>
                </a:ext>
              </a:extLst>
            </p:cNvPr>
            <p:cNvSpPr/>
            <p:nvPr/>
          </p:nvSpPr>
          <p:spPr>
            <a:xfrm>
              <a:off x="5146257" y="1010324"/>
              <a:ext cx="2535988" cy="506027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121FC64-2F1C-41B6-970A-B1C28926DA45}"/>
                    </a:ext>
                  </a:extLst>
                </p:cNvPr>
                <p:cNvSpPr/>
                <p:nvPr/>
              </p:nvSpPr>
              <p:spPr>
                <a:xfrm>
                  <a:off x="5212236" y="1362839"/>
                  <a:ext cx="2394850" cy="1665972"/>
                </a:xfrm>
                <a:prstGeom prst="roundRect">
                  <a:avLst/>
                </a:prstGeom>
                <a:solidFill>
                  <a:srgbClr val="E1F7FF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𝑺𝒆</m:t>
                      </m:r>
                      <m:sSub>
                        <m:sSub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</m:oMath>
                  </a14:m>
                  <a:r>
                    <a:rPr lang="en-US" sz="1400" b="1" dirty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M2D-CLAP: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MS-CLAP: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MGA-CLAP: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</a:t>
                  </a:r>
                </a:p>
              </p:txBody>
            </p:sp>
          </mc:Choice>
          <mc:Fallback xmlns="">
            <p:sp>
              <p:nvSpPr>
                <p:cNvPr id="20" name="Rectangle: Rounded Corners 19">
                  <a:extLst>
                    <a:ext uri="{FF2B5EF4-FFF2-40B4-BE49-F238E27FC236}">
                      <a16:creationId xmlns:a16="http://schemas.microsoft.com/office/drawing/2014/main" id="{F121FC64-2F1C-41B6-970A-B1C28926DA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2236" y="1362839"/>
                  <a:ext cx="2394850" cy="1665972"/>
                </a:xfrm>
                <a:prstGeom prst="roundRect">
                  <a:avLst/>
                </a:prstGeom>
                <a:blipFill>
                  <a:blip r:embed="rId6"/>
                  <a:stretch>
                    <a:fillRect b="-725"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07379586-2BC3-4DD5-AC58-A6D4494E6A54}"/>
                    </a:ext>
                  </a:extLst>
                </p:cNvPr>
                <p:cNvSpPr/>
                <p:nvPr/>
              </p:nvSpPr>
              <p:spPr>
                <a:xfrm>
                  <a:off x="5212236" y="3111122"/>
                  <a:ext cx="2394850" cy="1168661"/>
                </a:xfrm>
                <a:prstGeom prst="roundRect">
                  <a:avLst/>
                </a:prstGeom>
                <a:solidFill>
                  <a:srgbClr val="EDE2F6"/>
                </a:solidFill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𝑺𝒆</m:t>
                      </m:r>
                      <m:sSub>
                        <m:sSub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</m:oMath>
                  </a14:m>
                  <a:r>
                    <a:rPr lang="en-US" sz="1400" b="1" dirty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LAION-CLAP: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 (L1)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Whisper: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</a:t>
                  </a:r>
                </a:p>
              </p:txBody>
            </p:sp>
          </mc:Choice>
          <mc:Fallback xmlns=""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07379586-2BC3-4DD5-AC58-A6D4494E6A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2236" y="3111122"/>
                  <a:ext cx="2394850" cy="1168661"/>
                </a:xfrm>
                <a:prstGeom prst="roundRect">
                  <a:avLst/>
                </a:prstGeom>
                <a:blipFill>
                  <a:blip r:embed="rId7"/>
                  <a:stretch>
                    <a:fillRect b="-4124"/>
                  </a:stretch>
                </a:blipFill>
                <a:ln>
                  <a:solidFill>
                    <a:srgbClr val="7030A0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383AE20E-8E4A-4D68-8B8B-16B6AAC867CD}"/>
                    </a:ext>
                  </a:extLst>
                </p:cNvPr>
                <p:cNvSpPr/>
                <p:nvPr/>
              </p:nvSpPr>
              <p:spPr>
                <a:xfrm>
                  <a:off x="5213678" y="4362094"/>
                  <a:ext cx="2394850" cy="1626195"/>
                </a:xfrm>
                <a:prstGeom prst="round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𝑺𝒆</m:t>
                      </m:r>
                      <m:sSub>
                        <m:sSubPr>
                          <m:ctrlP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4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</m:oMath>
                  </a14:m>
                  <a:r>
                    <a:rPr lang="en-US" sz="1400" b="1" dirty="0">
                      <a:solidFill>
                        <a:schemeClr val="tx1"/>
                      </a:solidFill>
                    </a:rPr>
                    <a:t> 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Whisper: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 features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MS-CLAP: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>
                      <a:solidFill>
                        <a:schemeClr val="tx1"/>
                      </a:solidFill>
                    </a:rPr>
                    <a:t>LAION-CLAP: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Audio, Text, Proximity features (L1)</a:t>
                  </a:r>
                </a:p>
                <a:p>
                  <a:pPr marL="180000" indent="-180000">
                    <a:buFont typeface="+mj-lt"/>
                    <a:buAutoNum type="arabicPeriod"/>
                  </a:pPr>
                  <a:r>
                    <a:rPr lang="en-US" sz="1400" b="1" dirty="0" err="1">
                      <a:solidFill>
                        <a:schemeClr val="tx1"/>
                      </a:solidFill>
                    </a:rPr>
                    <a:t>DeBERTa</a:t>
                  </a:r>
                  <a:r>
                    <a:rPr lang="en-US" sz="1400" b="1" dirty="0">
                      <a:solidFill>
                        <a:schemeClr val="tx1"/>
                      </a:solidFill>
                    </a:rPr>
                    <a:t>: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Text features</a:t>
                  </a:r>
                </a:p>
              </p:txBody>
            </p:sp>
          </mc:Choice>
          <mc:Fallback xmlns=""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383AE20E-8E4A-4D68-8B8B-16B6AAC867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3678" y="4362094"/>
                  <a:ext cx="2394850" cy="1626195"/>
                </a:xfrm>
                <a:prstGeom prst="roundRect">
                  <a:avLst/>
                </a:prstGeom>
                <a:blipFill>
                  <a:blip r:embed="rId8"/>
                  <a:stretch>
                    <a:fillRect b="-2602"/>
                  </a:stretch>
                </a:blipFill>
                <a:ln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92AD073-2C30-49E4-AC78-5A6E4D5E94AF}"/>
                </a:ext>
              </a:extLst>
            </p:cNvPr>
            <p:cNvSpPr txBox="1"/>
            <p:nvPr/>
          </p:nvSpPr>
          <p:spPr>
            <a:xfrm>
              <a:off x="5630457" y="1010324"/>
              <a:ext cx="15224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Ensemble Set</a:t>
              </a:r>
              <a:endParaRPr lang="en-IN" b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E5BE046-460C-4372-9613-344C2FE0C8AC}"/>
              </a:ext>
            </a:extLst>
          </p:cNvPr>
          <p:cNvGrpSpPr/>
          <p:nvPr/>
        </p:nvGrpSpPr>
        <p:grpSpPr>
          <a:xfrm>
            <a:off x="7750486" y="232468"/>
            <a:ext cx="1292106" cy="1270933"/>
            <a:chOff x="8077738" y="1570567"/>
            <a:chExt cx="1292106" cy="1270933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C2B0F85-1C9F-41B7-9B79-BF9F9A5646C0}"/>
                </a:ext>
              </a:extLst>
            </p:cNvPr>
            <p:cNvSpPr/>
            <p:nvPr/>
          </p:nvSpPr>
          <p:spPr>
            <a:xfrm>
              <a:off x="8123469" y="1595347"/>
              <a:ext cx="1176557" cy="124615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47BC27F7-4E79-4491-9F80-F8A1330F9D73}"/>
                </a:ext>
              </a:extLst>
            </p:cNvPr>
            <p:cNvSpPr/>
            <p:nvPr/>
          </p:nvSpPr>
          <p:spPr>
            <a:xfrm>
              <a:off x="8238016" y="1890538"/>
              <a:ext cx="971550" cy="3526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Normalize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84D6C46-26D0-4B36-91C2-B7E287179C3B}"/>
                </a:ext>
              </a:extLst>
            </p:cNvPr>
            <p:cNvSpPr/>
            <p:nvPr/>
          </p:nvSpPr>
          <p:spPr>
            <a:xfrm>
              <a:off x="8238016" y="2298492"/>
              <a:ext cx="971550" cy="44632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Standard Scaler</a:t>
              </a:r>
              <a:endParaRPr lang="en-IN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60BB019-1437-41A9-A3A0-B6A9A99927C3}"/>
                </a:ext>
              </a:extLst>
            </p:cNvPr>
            <p:cNvSpPr txBox="1"/>
            <p:nvPr/>
          </p:nvSpPr>
          <p:spPr>
            <a:xfrm>
              <a:off x="8077738" y="1570567"/>
              <a:ext cx="129210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Pre-Processor</a:t>
              </a:r>
              <a:endParaRPr lang="en-IN" sz="1400" b="1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C6D7D04-0140-43CD-8F78-476A4B0D6DEC}"/>
              </a:ext>
            </a:extLst>
          </p:cNvPr>
          <p:cNvGrpSpPr/>
          <p:nvPr/>
        </p:nvGrpSpPr>
        <p:grpSpPr>
          <a:xfrm>
            <a:off x="1518652" y="369902"/>
            <a:ext cx="3327820" cy="2983753"/>
            <a:chOff x="1422354" y="695070"/>
            <a:chExt cx="3327820" cy="2983753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8270CE3-57B4-43D6-8D94-8AA4A36279AA}"/>
                </a:ext>
              </a:extLst>
            </p:cNvPr>
            <p:cNvSpPr/>
            <p:nvPr/>
          </p:nvSpPr>
          <p:spPr>
            <a:xfrm>
              <a:off x="1422354" y="706815"/>
              <a:ext cx="3327820" cy="2972008"/>
            </a:xfrm>
            <a:prstGeom prst="roundRect">
              <a:avLst>
                <a:gd name="adj" fmla="val 9218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2FC8355-E7D3-4877-935C-59B506CAEC3A}"/>
                </a:ext>
              </a:extLst>
            </p:cNvPr>
            <p:cNvGrpSpPr/>
            <p:nvPr/>
          </p:nvGrpSpPr>
          <p:grpSpPr>
            <a:xfrm>
              <a:off x="1506035" y="958485"/>
              <a:ext cx="1540934" cy="847190"/>
              <a:chOff x="8322733" y="3050555"/>
              <a:chExt cx="1540934" cy="847190"/>
            </a:xfrm>
          </p:grpSpPr>
          <p:sp>
            <p:nvSpPr>
              <p:cNvPr id="54" name="Rectangle: Rounded Corners 53">
                <a:extLst>
                  <a:ext uri="{FF2B5EF4-FFF2-40B4-BE49-F238E27FC236}">
                    <a16:creationId xmlns:a16="http://schemas.microsoft.com/office/drawing/2014/main" id="{31860CE3-A30D-4BB7-8165-6394A281A399}"/>
                  </a:ext>
                </a:extLst>
              </p:cNvPr>
              <p:cNvSpPr/>
              <p:nvPr/>
            </p:nvSpPr>
            <p:spPr>
              <a:xfrm>
                <a:off x="8322733" y="3123252"/>
                <a:ext cx="1540934" cy="77449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5E27D4-9BE5-4857-91D2-21A77DFD0696}"/>
                  </a:ext>
                </a:extLst>
              </p:cNvPr>
              <p:cNvSpPr txBox="1"/>
              <p:nvPr/>
            </p:nvSpPr>
            <p:spPr>
              <a:xfrm>
                <a:off x="8502649" y="3050555"/>
                <a:ext cx="12425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1"/>
                    </a:solidFill>
                  </a:rPr>
                  <a:t>M2D-CLAP</a:t>
                </a:r>
                <a:endParaRPr lang="en-I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36504948-64A5-4FB2-A85E-6F6DF70D9E7A}"/>
                  </a:ext>
                </a:extLst>
              </p:cNvPr>
              <p:cNvSpPr/>
              <p:nvPr/>
            </p:nvSpPr>
            <p:spPr>
              <a:xfrm>
                <a:off x="8394122" y="3425320"/>
                <a:ext cx="644814" cy="366669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Audio-Encoder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2E591BFD-BE41-43D8-973F-D24DC79BF385}"/>
                  </a:ext>
                </a:extLst>
              </p:cNvPr>
              <p:cNvSpPr/>
              <p:nvPr/>
            </p:nvSpPr>
            <p:spPr>
              <a:xfrm>
                <a:off x="9143422" y="3422196"/>
                <a:ext cx="644814" cy="369332"/>
              </a:xfrm>
              <a:prstGeom prst="round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68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Text-Encoder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8E70CF6-3834-4BA1-8FD5-5B61B8660D0D}"/>
                </a:ext>
              </a:extLst>
            </p:cNvPr>
            <p:cNvGrpSpPr/>
            <p:nvPr/>
          </p:nvGrpSpPr>
          <p:grpSpPr>
            <a:xfrm>
              <a:off x="3123691" y="958485"/>
              <a:ext cx="1540934" cy="837839"/>
              <a:chOff x="8268469" y="4021496"/>
              <a:chExt cx="1540934" cy="837839"/>
            </a:xfrm>
          </p:grpSpPr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8B91C335-FB6F-4FDF-9066-C9860E570A11}"/>
                  </a:ext>
                </a:extLst>
              </p:cNvPr>
              <p:cNvSpPr/>
              <p:nvPr/>
            </p:nvSpPr>
            <p:spPr>
              <a:xfrm>
                <a:off x="8268469" y="4084842"/>
                <a:ext cx="1540934" cy="774493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5A46C0B-D465-4D2E-A1D7-61C9B2199676}"/>
                  </a:ext>
                </a:extLst>
              </p:cNvPr>
              <p:cNvSpPr txBox="1"/>
              <p:nvPr/>
            </p:nvSpPr>
            <p:spPr>
              <a:xfrm>
                <a:off x="8527954" y="4021496"/>
                <a:ext cx="10551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MS-CLAP</a:t>
                </a:r>
                <a:endParaRPr lang="en-I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5982F05F-83E6-4054-AD6F-D008708C77DA}"/>
                  </a:ext>
                </a:extLst>
              </p:cNvPr>
              <p:cNvSpPr/>
              <p:nvPr/>
            </p:nvSpPr>
            <p:spPr>
              <a:xfrm>
                <a:off x="8339858" y="4386910"/>
                <a:ext cx="644814" cy="366669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Audio-Encoder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DFD0570F-A597-40EB-AB05-C4A45DD58042}"/>
                  </a:ext>
                </a:extLst>
              </p:cNvPr>
              <p:cNvSpPr/>
              <p:nvPr/>
            </p:nvSpPr>
            <p:spPr>
              <a:xfrm>
                <a:off x="9089158" y="4383786"/>
                <a:ext cx="644814" cy="369332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68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Text-Encoder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2814D1E-60BE-42D0-90C7-9874483F8E68}"/>
                </a:ext>
              </a:extLst>
            </p:cNvPr>
            <p:cNvGrpSpPr/>
            <p:nvPr/>
          </p:nvGrpSpPr>
          <p:grpSpPr>
            <a:xfrm>
              <a:off x="1500968" y="1827185"/>
              <a:ext cx="1540934" cy="844881"/>
              <a:chOff x="2866695" y="2501128"/>
              <a:chExt cx="1540934" cy="844881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430F60B-11AE-4BFE-A152-1D05AE690E35}"/>
                  </a:ext>
                </a:extLst>
              </p:cNvPr>
              <p:cNvSpPr/>
              <p:nvPr/>
            </p:nvSpPr>
            <p:spPr>
              <a:xfrm>
                <a:off x="2866695" y="2571516"/>
                <a:ext cx="1540934" cy="774493"/>
              </a:xfrm>
              <a:prstGeom prst="roundRect">
                <a:avLst/>
              </a:prstGeom>
              <a:solidFill>
                <a:srgbClr val="DDFDF8"/>
              </a:solidFill>
              <a:ln>
                <a:solidFill>
                  <a:srgbClr val="0DE9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C73C94B-832C-48FB-94A5-ABE368D341F3}"/>
                  </a:ext>
                </a:extLst>
              </p:cNvPr>
              <p:cNvSpPr txBox="1"/>
              <p:nvPr/>
            </p:nvSpPr>
            <p:spPr>
              <a:xfrm>
                <a:off x="3084374" y="2501128"/>
                <a:ext cx="12356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AB699"/>
                    </a:solidFill>
                  </a:rPr>
                  <a:t>MGA-CLAP</a:t>
                </a:r>
                <a:endParaRPr lang="en-IN" b="1" dirty="0">
                  <a:solidFill>
                    <a:srgbClr val="0AB699"/>
                  </a:solidFill>
                </a:endParaRP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11035B12-A234-4D30-AD66-F3DB224E65D2}"/>
                  </a:ext>
                </a:extLst>
              </p:cNvPr>
              <p:cNvSpPr/>
              <p:nvPr/>
            </p:nvSpPr>
            <p:spPr>
              <a:xfrm>
                <a:off x="2938084" y="2873584"/>
                <a:ext cx="644814" cy="366669"/>
              </a:xfrm>
              <a:prstGeom prst="roundRect">
                <a:avLst/>
              </a:prstGeom>
              <a:solidFill>
                <a:srgbClr val="84F8E5"/>
              </a:solidFill>
              <a:ln>
                <a:solidFill>
                  <a:srgbClr val="0DE9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Audio-Encoder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9" name="Rectangle: Rounded Corners 48">
                <a:extLst>
                  <a:ext uri="{FF2B5EF4-FFF2-40B4-BE49-F238E27FC236}">
                    <a16:creationId xmlns:a16="http://schemas.microsoft.com/office/drawing/2014/main" id="{92745621-B8A0-4DD3-825E-42DE7229F8EA}"/>
                  </a:ext>
                </a:extLst>
              </p:cNvPr>
              <p:cNvSpPr/>
              <p:nvPr/>
            </p:nvSpPr>
            <p:spPr>
              <a:xfrm>
                <a:off x="3687384" y="2870460"/>
                <a:ext cx="644814" cy="369332"/>
              </a:xfrm>
              <a:prstGeom prst="roundRect">
                <a:avLst/>
              </a:prstGeom>
              <a:solidFill>
                <a:srgbClr val="84F8E5"/>
              </a:solidFill>
              <a:ln>
                <a:solidFill>
                  <a:srgbClr val="0DE9C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68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Text-Encoder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126C0A5-E826-4DA8-AF1C-38452054521B}"/>
                </a:ext>
              </a:extLst>
            </p:cNvPr>
            <p:cNvGrpSpPr/>
            <p:nvPr/>
          </p:nvGrpSpPr>
          <p:grpSpPr>
            <a:xfrm>
              <a:off x="3123690" y="1822867"/>
              <a:ext cx="1540934" cy="844881"/>
              <a:chOff x="5472351" y="5520335"/>
              <a:chExt cx="1540934" cy="844881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7D010FDA-EFA0-4D57-A4B8-D6FA54F24E19}"/>
                  </a:ext>
                </a:extLst>
              </p:cNvPr>
              <p:cNvSpPr/>
              <p:nvPr/>
            </p:nvSpPr>
            <p:spPr>
              <a:xfrm>
                <a:off x="5472351" y="5590723"/>
                <a:ext cx="1540934" cy="774493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A3B9C72-2E94-457F-A01C-81D05E2DAF76}"/>
                  </a:ext>
                </a:extLst>
              </p:cNvPr>
              <p:cNvSpPr txBox="1"/>
              <p:nvPr/>
            </p:nvSpPr>
            <p:spPr>
              <a:xfrm>
                <a:off x="5608015" y="5520335"/>
                <a:ext cx="1341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6">
                        <a:lumMod val="75000"/>
                      </a:schemeClr>
                    </a:solidFill>
                  </a:rPr>
                  <a:t>LAION-CLAP</a:t>
                </a:r>
                <a:endParaRPr lang="en-I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DCC901C8-B040-48E9-8562-BDCC15E08D76}"/>
                  </a:ext>
                </a:extLst>
              </p:cNvPr>
              <p:cNvSpPr/>
              <p:nvPr/>
            </p:nvSpPr>
            <p:spPr>
              <a:xfrm>
                <a:off x="5543740" y="5892791"/>
                <a:ext cx="644814" cy="366669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Audio-Encoder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DAFBD1BB-1E19-4373-9433-129DC3755D0B}"/>
                  </a:ext>
                </a:extLst>
              </p:cNvPr>
              <p:cNvSpPr/>
              <p:nvPr/>
            </p:nvSpPr>
            <p:spPr>
              <a:xfrm>
                <a:off x="6293040" y="5889667"/>
                <a:ext cx="644814" cy="369332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68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Text-Encoder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B0EFA3-F2E8-48AC-B4E3-41E7DC1B38A3}"/>
                </a:ext>
              </a:extLst>
            </p:cNvPr>
            <p:cNvGrpSpPr/>
            <p:nvPr/>
          </p:nvGrpSpPr>
          <p:grpSpPr>
            <a:xfrm>
              <a:off x="1502925" y="2724163"/>
              <a:ext cx="1540934" cy="833737"/>
              <a:chOff x="4163694" y="3559815"/>
              <a:chExt cx="1540934" cy="833737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1BE1D26E-B022-4472-96F2-0D9FC6CC4A0C}"/>
                  </a:ext>
                </a:extLst>
              </p:cNvPr>
              <p:cNvSpPr/>
              <p:nvPr/>
            </p:nvSpPr>
            <p:spPr>
              <a:xfrm>
                <a:off x="4163694" y="3619059"/>
                <a:ext cx="1540934" cy="774493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736B56A-7E1F-4A2B-98CC-B77C0C55B546}"/>
                  </a:ext>
                </a:extLst>
              </p:cNvPr>
              <p:cNvSpPr txBox="1"/>
              <p:nvPr/>
            </p:nvSpPr>
            <p:spPr>
              <a:xfrm>
                <a:off x="4468971" y="3559815"/>
                <a:ext cx="10308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4">
                        <a:lumMod val="50000"/>
                      </a:schemeClr>
                    </a:solidFill>
                  </a:rPr>
                  <a:t>Whisper</a:t>
                </a:r>
                <a:endParaRPr lang="en-I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0" name="Rectangle: Rounded Corners 39">
                <a:extLst>
                  <a:ext uri="{FF2B5EF4-FFF2-40B4-BE49-F238E27FC236}">
                    <a16:creationId xmlns:a16="http://schemas.microsoft.com/office/drawing/2014/main" id="{C310BF9B-6CF2-41CA-9AB0-21DC0F3C4F85}"/>
                  </a:ext>
                </a:extLst>
              </p:cNvPr>
              <p:cNvSpPr/>
              <p:nvPr/>
            </p:nvSpPr>
            <p:spPr>
              <a:xfrm>
                <a:off x="4235083" y="3921127"/>
                <a:ext cx="644814" cy="366669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Encoder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1" name="Rectangle: Rounded Corners 40">
                <a:extLst>
                  <a:ext uri="{FF2B5EF4-FFF2-40B4-BE49-F238E27FC236}">
                    <a16:creationId xmlns:a16="http://schemas.microsoft.com/office/drawing/2014/main" id="{625C0C17-4B61-4045-9730-C12B22A89E15}"/>
                  </a:ext>
                </a:extLst>
              </p:cNvPr>
              <p:cNvSpPr/>
              <p:nvPr/>
            </p:nvSpPr>
            <p:spPr>
              <a:xfrm>
                <a:off x="4984383" y="3918003"/>
                <a:ext cx="644814" cy="369332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46800" rIns="36000" rtlCol="0" anchor="ctr"/>
              <a:lstStyle/>
              <a:p>
                <a:pPr algn="ctr"/>
                <a:r>
                  <a:rPr lang="en-US" sz="1200" dirty="0">
                    <a:solidFill>
                      <a:sysClr val="windowText" lastClr="000000"/>
                    </a:solidFill>
                  </a:rPr>
                  <a:t>Decoder</a:t>
                </a:r>
                <a:endParaRPr lang="en-IN" sz="1200" dirty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D624D44F-9FBE-487C-855B-1B1458AD81F0}"/>
                </a:ext>
              </a:extLst>
            </p:cNvPr>
            <p:cNvSpPr/>
            <p:nvPr/>
          </p:nvSpPr>
          <p:spPr>
            <a:xfrm>
              <a:off x="3129328" y="2924455"/>
              <a:ext cx="1540934" cy="354478"/>
            </a:xfrm>
            <a:prstGeom prst="roundRect">
              <a:avLst/>
            </a:prstGeom>
            <a:solidFill>
              <a:srgbClr val="F6D6F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>
                  <a:solidFill>
                    <a:srgbClr val="7030A0"/>
                  </a:solidFill>
                </a:rPr>
                <a:t>De-BERTaV3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97401E6-3088-47DE-81F9-BC52CD10BBBD}"/>
                </a:ext>
              </a:extLst>
            </p:cNvPr>
            <p:cNvSpPr txBox="1"/>
            <p:nvPr/>
          </p:nvSpPr>
          <p:spPr>
            <a:xfrm>
              <a:off x="1947176" y="695070"/>
              <a:ext cx="2274708" cy="307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600"/>
                </a:lnSpc>
              </a:pPr>
              <a:r>
                <a:rPr lang="en-US" b="1" dirty="0"/>
                <a:t>Pre-trained models</a:t>
              </a:r>
              <a:endParaRPr lang="en-IN" b="1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8153A5-454B-4A2E-9DBE-A6EF8D577305}"/>
              </a:ext>
            </a:extLst>
          </p:cNvPr>
          <p:cNvGrpSpPr/>
          <p:nvPr/>
        </p:nvGrpSpPr>
        <p:grpSpPr>
          <a:xfrm>
            <a:off x="7767104" y="2021690"/>
            <a:ext cx="1258903" cy="1364146"/>
            <a:chOff x="7546097" y="705513"/>
            <a:chExt cx="1258903" cy="1364146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4D0504F5-76DE-42D3-96B3-F7C0D2027B40}"/>
                </a:ext>
              </a:extLst>
            </p:cNvPr>
            <p:cNvSpPr/>
            <p:nvPr/>
          </p:nvSpPr>
          <p:spPr>
            <a:xfrm>
              <a:off x="7565751" y="724583"/>
              <a:ext cx="1219596" cy="1345076"/>
            </a:xfrm>
            <a:prstGeom prst="roundRect">
              <a:avLst>
                <a:gd name="adj" fmla="val 12502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4B45AEFE-DC99-471F-AF6D-FC0E7D7D2DD8}"/>
                </a:ext>
              </a:extLst>
            </p:cNvPr>
            <p:cNvSpPr/>
            <p:nvPr/>
          </p:nvSpPr>
          <p:spPr>
            <a:xfrm>
              <a:off x="7625481" y="1664128"/>
              <a:ext cx="1100134" cy="30258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XGBoost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3C07AE2-5419-42A7-BEA3-7258698C4666}"/>
                </a:ext>
              </a:extLst>
            </p:cNvPr>
            <p:cNvSpPr txBox="1"/>
            <p:nvPr/>
          </p:nvSpPr>
          <p:spPr>
            <a:xfrm>
              <a:off x="7546097" y="705513"/>
              <a:ext cx="125890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Regression models</a:t>
              </a:r>
              <a:endParaRPr lang="en-IN" sz="1600" b="1" dirty="0"/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48EAE9F9-55A3-49AD-9C24-226BC1357446}"/>
                </a:ext>
              </a:extLst>
            </p:cNvPr>
            <p:cNvSpPr/>
            <p:nvPr/>
          </p:nvSpPr>
          <p:spPr>
            <a:xfrm>
              <a:off x="7785453" y="1290288"/>
              <a:ext cx="788019" cy="30258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SVR</a:t>
              </a:r>
            </a:p>
          </p:txBody>
        </p: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04799DC-C9B5-425B-8323-61CA010C732D}"/>
              </a:ext>
            </a:extLst>
          </p:cNvPr>
          <p:cNvSpPr/>
          <p:nvPr/>
        </p:nvSpPr>
        <p:spPr>
          <a:xfrm>
            <a:off x="9357632" y="2449977"/>
            <a:ext cx="1176557" cy="463787"/>
          </a:xfrm>
          <a:prstGeom prst="roundRect">
            <a:avLst/>
          </a:prstGeom>
          <a:solidFill>
            <a:srgbClr val="DFF1CB"/>
          </a:solidFill>
          <a:ln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Optimize weights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17E9B34F-577C-4AB9-B626-491139609B7A}"/>
              </a:ext>
            </a:extLst>
          </p:cNvPr>
          <p:cNvSpPr/>
          <p:nvPr/>
        </p:nvSpPr>
        <p:spPr>
          <a:xfrm>
            <a:off x="9412198" y="1865028"/>
            <a:ext cx="1068725" cy="354739"/>
          </a:xfrm>
          <a:prstGeom prst="roundRect">
            <a:avLst/>
          </a:prstGeom>
          <a:solidFill>
            <a:srgbClr val="BDEEFF"/>
          </a:solidFill>
          <a:ln>
            <a:solidFill>
              <a:srgbClr val="BDE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Prediction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50AF2937-4800-48FF-A270-49A2E53B150F}"/>
              </a:ext>
            </a:extLst>
          </p:cNvPr>
          <p:cNvSpPr/>
          <p:nvPr/>
        </p:nvSpPr>
        <p:spPr>
          <a:xfrm>
            <a:off x="9398054" y="3178695"/>
            <a:ext cx="1096980" cy="354739"/>
          </a:xfrm>
          <a:prstGeom prst="roundRect">
            <a:avLst/>
          </a:prstGeom>
          <a:solidFill>
            <a:srgbClr val="D1B2E8"/>
          </a:solidFill>
          <a:ln>
            <a:solidFill>
              <a:srgbClr val="D1B2E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Prediction</a:t>
            </a:r>
            <a:endParaRPr lang="en-IN" dirty="0">
              <a:solidFill>
                <a:schemeClr val="tx1"/>
              </a:solidFill>
            </a:endParaRPr>
          </a:p>
        </p:txBody>
      </p: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9311F61F-919F-4A68-942E-C8904FC6D398}"/>
              </a:ext>
            </a:extLst>
          </p:cNvPr>
          <p:cNvCxnSpPr>
            <a:cxnSpLocks/>
            <a:stCxn id="63" idx="3"/>
            <a:endCxn id="10" idx="1"/>
          </p:cNvCxnSpPr>
          <p:nvPr/>
        </p:nvCxnSpPr>
        <p:spPr>
          <a:xfrm>
            <a:off x="10534172" y="2681854"/>
            <a:ext cx="657186" cy="703982"/>
          </a:xfrm>
          <a:prstGeom prst="curvedConnector3">
            <a:avLst/>
          </a:prstGeom>
          <a:ln>
            <a:solidFill>
              <a:srgbClr val="7030A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Curved 66">
            <a:extLst>
              <a:ext uri="{FF2B5EF4-FFF2-40B4-BE49-F238E27FC236}">
                <a16:creationId xmlns:a16="http://schemas.microsoft.com/office/drawing/2014/main" id="{6CE66F28-DDDB-481F-8A23-78F248AF9EE8}"/>
              </a:ext>
            </a:extLst>
          </p:cNvPr>
          <p:cNvCxnSpPr>
            <a:cxnSpLocks/>
            <a:stCxn id="63" idx="3"/>
            <a:endCxn id="9" idx="1"/>
          </p:cNvCxnSpPr>
          <p:nvPr/>
        </p:nvCxnSpPr>
        <p:spPr>
          <a:xfrm flipV="1">
            <a:off x="10534189" y="1969806"/>
            <a:ext cx="657187" cy="712065"/>
          </a:xfrm>
          <a:prstGeom prst="curvedConnector3">
            <a:avLst/>
          </a:prstGeom>
          <a:ln>
            <a:solidFill>
              <a:srgbClr val="0070C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A8A2D88-DD85-44DC-B9AF-ACC64DCBE0B6}"/>
              </a:ext>
            </a:extLst>
          </p:cNvPr>
          <p:cNvGrpSpPr/>
          <p:nvPr/>
        </p:nvGrpSpPr>
        <p:grpSpPr>
          <a:xfrm>
            <a:off x="23892" y="557171"/>
            <a:ext cx="1364399" cy="2585871"/>
            <a:chOff x="18285" y="2062329"/>
            <a:chExt cx="1364399" cy="2585871"/>
          </a:xfrm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0B63CDE7-C76E-4E50-83AA-3C4A1C916612}"/>
                </a:ext>
              </a:extLst>
            </p:cNvPr>
            <p:cNvSpPr/>
            <p:nvPr/>
          </p:nvSpPr>
          <p:spPr>
            <a:xfrm>
              <a:off x="18285" y="2095725"/>
              <a:ext cx="1364399" cy="2552475"/>
            </a:xfrm>
            <a:prstGeom prst="roundRect">
              <a:avLst>
                <a:gd name="adj" fmla="val 13564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pic>
          <p:nvPicPr>
            <p:cNvPr id="70" name="Picture 69">
              <a:extLst>
                <a:ext uri="{FF2B5EF4-FFF2-40B4-BE49-F238E27FC236}">
                  <a16:creationId xmlns:a16="http://schemas.microsoft.com/office/drawing/2014/main" id="{7C37930C-2154-4ACE-96DC-245F91D714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2185" y="2589459"/>
              <a:ext cx="1280596" cy="996276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04CF541-1C80-4ADD-8EF9-300B2D129176}"/>
                </a:ext>
              </a:extLst>
            </p:cNvPr>
            <p:cNvSpPr txBox="1"/>
            <p:nvPr/>
          </p:nvSpPr>
          <p:spPr>
            <a:xfrm>
              <a:off x="57952" y="3683900"/>
              <a:ext cx="1281181" cy="861774"/>
            </a:xfrm>
            <a:prstGeom prst="rect">
              <a:avLst/>
            </a:prstGeom>
            <a:solidFill>
              <a:srgbClr val="FFFFCC"/>
            </a:solidFill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0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“Birds singing in the distance, followed by footsteps and soft wind. A woman begins to speak”</a:t>
              </a:r>
              <a:endParaRPr lang="en-IN" sz="1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41255B3-9261-40A7-862A-25C8F2217CB2}"/>
                </a:ext>
              </a:extLst>
            </p:cNvPr>
            <p:cNvSpPr txBox="1"/>
            <p:nvPr/>
          </p:nvSpPr>
          <p:spPr>
            <a:xfrm>
              <a:off x="130746" y="2062329"/>
              <a:ext cx="113076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Audio-Text Pair</a:t>
              </a:r>
              <a:endParaRPr lang="en-IN" sz="1600" b="1" dirty="0"/>
            </a:p>
          </p:txBody>
        </p:sp>
      </p:grp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755E0412-29AA-4709-8B3E-CA60CD928D30}"/>
              </a:ext>
            </a:extLst>
          </p:cNvPr>
          <p:cNvCxnSpPr>
            <a:cxnSpLocks/>
            <a:stCxn id="69" idx="3"/>
            <a:endCxn id="30" idx="1"/>
          </p:cNvCxnSpPr>
          <p:nvPr/>
        </p:nvCxnSpPr>
        <p:spPr>
          <a:xfrm>
            <a:off x="1388274" y="1866788"/>
            <a:ext cx="130378" cy="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D5E20471-7AB2-4B51-BF80-BD4449A0A85D}"/>
              </a:ext>
            </a:extLst>
          </p:cNvPr>
          <p:cNvCxnSpPr>
            <a:stCxn id="30" idx="2"/>
            <a:endCxn id="17" idx="0"/>
          </p:cNvCxnSpPr>
          <p:nvPr/>
        </p:nvCxnSpPr>
        <p:spPr>
          <a:xfrm flipH="1">
            <a:off x="3180828" y="3353665"/>
            <a:ext cx="1734" cy="23827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07B9F5FD-55FC-4FA8-B038-4FD05C66372A}"/>
              </a:ext>
            </a:extLst>
          </p:cNvPr>
          <p:cNvCxnSpPr>
            <a:stCxn id="30" idx="3"/>
            <a:endCxn id="19" idx="1"/>
          </p:cNvCxnSpPr>
          <p:nvPr/>
        </p:nvCxnSpPr>
        <p:spPr>
          <a:xfrm>
            <a:off x="4846472" y="1867651"/>
            <a:ext cx="197356" cy="68366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2A0E0BEA-5F5A-406C-8F92-79082491B496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 flipV="1">
            <a:off x="4222228" y="2551320"/>
            <a:ext cx="821600" cy="1690053"/>
          </a:xfrm>
          <a:prstGeom prst="bentConnector3">
            <a:avLst>
              <a:gd name="adj1" fmla="val 8772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2F1B4D5C-443D-474D-8BC5-B2EFF89F7425}"/>
              </a:ext>
            </a:extLst>
          </p:cNvPr>
          <p:cNvCxnSpPr>
            <a:stCxn id="19" idx="3"/>
            <a:endCxn id="25" idx="1"/>
          </p:cNvCxnSpPr>
          <p:nvPr/>
        </p:nvCxnSpPr>
        <p:spPr>
          <a:xfrm flipV="1">
            <a:off x="7579833" y="880308"/>
            <a:ext cx="216401" cy="1671012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DB7F2EEA-D85D-48DD-A222-1F80083C88B2}"/>
              </a:ext>
            </a:extLst>
          </p:cNvPr>
          <p:cNvCxnSpPr>
            <a:stCxn id="25" idx="2"/>
            <a:endCxn id="61" idx="0"/>
          </p:cNvCxnSpPr>
          <p:nvPr/>
        </p:nvCxnSpPr>
        <p:spPr>
          <a:xfrm>
            <a:off x="8384513" y="1503384"/>
            <a:ext cx="12043" cy="5183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E7A333FB-05E5-4ED9-B123-59FA9868C404}"/>
              </a:ext>
            </a:extLst>
          </p:cNvPr>
          <p:cNvCxnSpPr>
            <a:stCxn id="59" idx="3"/>
            <a:endCxn id="4" idx="1"/>
          </p:cNvCxnSpPr>
          <p:nvPr/>
        </p:nvCxnSpPr>
        <p:spPr>
          <a:xfrm flipV="1">
            <a:off x="9006354" y="1556818"/>
            <a:ext cx="229753" cy="115649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5B8DD9DA-CC1A-469D-BE82-2140F8EF3CB9}"/>
              </a:ext>
            </a:extLst>
          </p:cNvPr>
          <p:cNvCxnSpPr>
            <a:stCxn id="59" idx="3"/>
            <a:endCxn id="6" idx="1"/>
          </p:cNvCxnSpPr>
          <p:nvPr/>
        </p:nvCxnSpPr>
        <p:spPr>
          <a:xfrm>
            <a:off x="9006354" y="2713298"/>
            <a:ext cx="229753" cy="112833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029244D-BBBE-49BD-93A3-F1FBE73A59F2}"/>
              </a:ext>
            </a:extLst>
          </p:cNvPr>
          <p:cNvCxnSpPr>
            <a:stCxn id="4" idx="2"/>
            <a:endCxn id="64" idx="0"/>
          </p:cNvCxnSpPr>
          <p:nvPr/>
        </p:nvCxnSpPr>
        <p:spPr>
          <a:xfrm>
            <a:off x="9946544" y="1734187"/>
            <a:ext cx="0" cy="130841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DD69E85-0AAE-4F03-9BC5-FA5905D48CEC}"/>
              </a:ext>
            </a:extLst>
          </p:cNvPr>
          <p:cNvCxnSpPr>
            <a:stCxn id="64" idx="2"/>
            <a:endCxn id="63" idx="0"/>
          </p:cNvCxnSpPr>
          <p:nvPr/>
        </p:nvCxnSpPr>
        <p:spPr>
          <a:xfrm flipH="1">
            <a:off x="9945894" y="2219750"/>
            <a:ext cx="650" cy="23021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F3C3D99-7B0A-482D-B759-2F307C3B66FC}"/>
              </a:ext>
            </a:extLst>
          </p:cNvPr>
          <p:cNvCxnSpPr>
            <a:stCxn id="6" idx="0"/>
            <a:endCxn id="65" idx="2"/>
          </p:cNvCxnSpPr>
          <p:nvPr/>
        </p:nvCxnSpPr>
        <p:spPr>
          <a:xfrm flipV="1">
            <a:off x="9946544" y="3533434"/>
            <a:ext cx="0" cy="13084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4AFCD162-37C4-4ED1-83B6-6E153ADAE654}"/>
              </a:ext>
            </a:extLst>
          </p:cNvPr>
          <p:cNvCxnSpPr>
            <a:stCxn id="65" idx="0"/>
            <a:endCxn id="63" idx="2"/>
          </p:cNvCxnSpPr>
          <p:nvPr/>
        </p:nvCxnSpPr>
        <p:spPr>
          <a:xfrm flipH="1" flipV="1">
            <a:off x="9945894" y="2913764"/>
            <a:ext cx="650" cy="264931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83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1562</TotalTime>
  <Words>160</Words>
  <Application>Microsoft Office PowerPoint</Application>
  <PresentationFormat>Custom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Snehit Chunarkar</dc:creator>
  <cp:lastModifiedBy>Hamza .</cp:lastModifiedBy>
  <cp:revision>3</cp:revision>
  <dcterms:created xsi:type="dcterms:W3CDTF">2025-12-19T10:55:29Z</dcterms:created>
  <dcterms:modified xsi:type="dcterms:W3CDTF">2025-12-28T09:19:17Z</dcterms:modified>
</cp:coreProperties>
</file>